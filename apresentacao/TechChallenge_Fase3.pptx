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25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739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
- 2025 introduz a categoria Especialista/Staff+, limitando comparações diretas com Sênior dos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
- Faixas salariais originais preservadas; duas anomalias da fonte foram sinalizadas e excluídas da visualização analítica.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
- Cloud 2023 possui ressalva semântica; em 2025, linguagem refere-se a preferência e não é estritamente comparável aos anos anteriores.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
- Pergunta sobre resultados com LLMs existe apenas em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AD592-9349-DD07-430F-B51BEE04F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65F41-3B4F-1014-9A77-1498C9CE8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5CB9AC-47B5-9944-490C-630BE79E9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State of Data Brasil 2023, 2024 e 2025 (bases fornecidas pelo usuário), processadas no pipeline do Tech Challenge.
- Enunciado Tech Challenge — Fase 3 e orientações docentes fornecidas pelo usuário.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B3FDA-E294-7CDA-6878-4D994CE7C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3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5544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CHALLENGE • FASE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6537960"/>
            <a:ext cx="11457432" cy="0"/>
          </a:xfrm>
          <a:prstGeom prst="line">
            <a:avLst/>
          </a:prstGeom>
          <a:noFill/>
          <a:ln w="12700">
            <a:solidFill>
              <a:srgbClr val="D8D8D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tonfs13/tech-challenge-fase3-state-of-dat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960120"/>
            <a:ext cx="3246120" cy="91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8641080" y="1234440"/>
            <a:ext cx="2697480" cy="91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9189720" y="1508760"/>
            <a:ext cx="2148840" cy="9144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738360" y="1783080"/>
            <a:ext cx="1600200" cy="91440"/>
          </a:xfrm>
          <a:prstGeom prst="rect">
            <a:avLst/>
          </a:prstGeom>
          <a:solidFill>
            <a:srgbClr val="DA3E9F"/>
          </a:solidFill>
          <a:ln w="12700">
            <a:solidFill>
              <a:srgbClr val="DA3E9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CHALLENGE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58368" y="16276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CFCF"/>
                </a:solidFill>
              </a:rPr>
              <a:t>Fase 3 • Big Data to Analytics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2139696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90F3"/>
                </a:solidFill>
              </a:rPr>
              <a:t>State of Data Brasil 2023–2025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8368" y="2907792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</a:rPr>
              <a:t>Análise do cenário brasileiro de Dados, Analytics e Inteligência Artificial a partir das pesquisas State of Data de 2023 a 2025.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59893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DBDBD"/>
                </a:solidFill>
              </a:rPr>
              <a:t>AWS Academy • S3 • Glue/PySpark • Data Catalog • Athena • Power BI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5760720"/>
            <a:ext cx="2926080" cy="0"/>
          </a:xfrm>
          <a:prstGeom prst="line">
            <a:avLst/>
          </a:prstGeom>
          <a:noFill/>
          <a:ln w="381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DA1683DC-FB73-DE6F-2100-CCF31FB840AC}"/>
              </a:ext>
            </a:extLst>
          </p:cNvPr>
          <p:cNvSpPr/>
          <p:nvPr/>
        </p:nvSpPr>
        <p:spPr>
          <a:xfrm>
            <a:off x="658368" y="5326381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E5E5E5"/>
                </a:solidFill>
              </a:rPr>
              <a:t>Elton Ferreira - Data Analytics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executivo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Principais sinais encontrados nos dados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600200"/>
            <a:ext cx="73152" cy="141732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12648" y="1764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6008A"/>
                </a:solidFill>
              </a:rPr>
              <a:t>48,3%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225856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Sênior + Especialista/Staff+ entre respondentes com senioridade em 2025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3552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273552" y="1600200"/>
            <a:ext cx="73152" cy="141732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474720" y="1764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90F3"/>
                </a:solidFill>
              </a:rPr>
              <a:t>21,95%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74720" y="225856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Participação feminina em 2025 — abaixo de 24,43% em 2023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35624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135624" y="1600200"/>
            <a:ext cx="73152" cy="141732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36792" y="1764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D6F32"/>
                </a:solidFill>
              </a:rPr>
              <a:t>64,41%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336792" y="225856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Respondentes do Sudeste em 2025 — concentração regional elevada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60020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5240" dist="762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97696" y="1600200"/>
            <a:ext cx="73152" cy="1417320"/>
          </a:xfrm>
          <a:prstGeom prst="rect">
            <a:avLst/>
          </a:prstGeom>
          <a:solidFill>
            <a:srgbClr val="1F33A8"/>
          </a:solidFill>
          <a:ln w="12700">
            <a:solidFill>
              <a:srgbClr val="1F33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98864" y="17647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3A8"/>
                </a:solidFill>
              </a:rPr>
              <a:t>60,58%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98864" y="2258568"/>
            <a:ext cx="23774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IA como prioridade principal ou alta prioridade em 2025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429000"/>
            <a:ext cx="3657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920" y="3429000"/>
            <a:ext cx="73152" cy="150876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04088" y="3557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Forte presença de profissionais experientes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4088" y="3867912"/>
            <a:ext cx="3310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Os perfis mais experientes seguem com participação relevante, enquanto a amostra continua bastante concentrada no Sudeste.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429000"/>
            <a:ext cx="3657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279392" y="3429000"/>
            <a:ext cx="73152" cy="150876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480560" y="3557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Participação feminina segue como ponto de atenção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480560" y="3867912"/>
            <a:ext cx="3310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participação feminina recua 2,48 p.p. entre 2023 e 2025. O resultado reforça a importância de acompanhar atração, entrada e retenção.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55864" y="3429000"/>
            <a:ext cx="3657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8055864" y="3429000"/>
            <a:ext cx="73152" cy="150876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257032" y="35570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IA ganha espaço, mas impacto ainda é limitado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57032" y="3867912"/>
            <a:ext cx="33101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prioridade dada à IA cresce no período, mas em 2025 os pilotos com pouco impacto (38,39%) ainda superam a produção com impacto (26,47%).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" y="5321808"/>
            <a:ext cx="11064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B1B"/>
                </a:solidFill>
              </a:rPr>
              <a:t>Em conjunto, os resultados sugerem equilibrar contratação, formação, alcance regional e investimentos em IA.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Dados e preparação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Três anos de pesquisa organizados em um mesmo Data Lake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847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90F3"/>
                </a:solidFill>
              </a:rPr>
              <a:t>5.293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267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respondentes • 2023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1645920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514600" y="1847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33A8"/>
                </a:solidFill>
              </a:rPr>
              <a:t>5.215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14600" y="2267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respondentes • 2024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26280" y="1645920"/>
            <a:ext cx="1691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26280" y="184708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D6F32"/>
                </a:solidFill>
              </a:rPr>
              <a:t>3.494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26280" y="226771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respondentes • 2025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93408" y="1645920"/>
            <a:ext cx="20574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93408" y="184708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6008A"/>
                </a:solidFill>
              </a:rPr>
              <a:t>14.002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839712" y="224942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registros na Silver após deduplicação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06840" y="1645920"/>
            <a:ext cx="2606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006840" y="184708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9D58"/>
                </a:solidFill>
              </a:rPr>
              <a:t>Parquet + partições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189720" y="226771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Silver e Gold particionadas por ano_pesquisa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337560"/>
            <a:ext cx="30175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0392" y="35021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6F32"/>
                </a:solidFill>
              </a:rPr>
              <a:t>Bronze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" y="38679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CSV original, sem alteração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13048" y="3721608"/>
            <a:ext cx="347472" cy="411480"/>
          </a:xfrm>
          <a:prstGeom prst="chevron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297680" y="3337560"/>
            <a:ext cx="30175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462272" y="35021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0F3"/>
                </a:solidFill>
              </a:rPr>
              <a:t>Silver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62272" y="38679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harmonização, limpeza e deduplicação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24928" y="3721608"/>
            <a:ext cx="347472" cy="411480"/>
          </a:xfrm>
          <a:prstGeom prst="chevron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7909560" y="3337560"/>
            <a:ext cx="30175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8074152" y="350215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6008A"/>
                </a:solidFill>
              </a:rPr>
              <a:t>Gold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074152" y="3867912"/>
            <a:ext cx="2688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indicadores agregados para análise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5800" y="4983480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685800" y="4983480"/>
            <a:ext cx="73152" cy="1024128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86968" y="5111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Rastreabilidade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86968" y="5422392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Faixas salariais originais </a:t>
            </a:r>
            <a:r>
              <a:rPr lang="en-US" sz="1050" dirty="0" err="1">
                <a:solidFill>
                  <a:srgbClr val="6B6B6B"/>
                </a:solidFill>
              </a:rPr>
              <a:t>foram</a:t>
            </a:r>
            <a:r>
              <a:rPr lang="en-US" sz="1050" dirty="0">
                <a:solidFill>
                  <a:srgbClr val="6B6B6B"/>
                </a:solidFill>
              </a:rPr>
              <a:t> </a:t>
            </a:r>
            <a:r>
              <a:rPr lang="en-US" sz="1050" dirty="0" err="1">
                <a:solidFill>
                  <a:srgbClr val="6B6B6B"/>
                </a:solidFill>
              </a:rPr>
              <a:t>preservadas</a:t>
            </a:r>
            <a:r>
              <a:rPr lang="en-US" sz="1050" dirty="0">
                <a:solidFill>
                  <a:srgbClr val="6B6B6B"/>
                </a:solidFill>
              </a:rPr>
              <a:t>, e anomalias foram sinalizadas, não sobrescritas.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89120" y="4983480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389120" y="4983480"/>
            <a:ext cx="73152" cy="1024128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590288" y="5111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Comparabilidade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90288" y="5422392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mapeamento das perguntas equivalentes evita juntar campos que mudaram de nome ou posição entre os anos.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92440" y="4983480"/>
            <a:ext cx="34290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8092440" y="4983480"/>
            <a:ext cx="73152" cy="1024128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293608" y="51114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Denominadores corretos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293608" y="5422392"/>
            <a:ext cx="3081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Os percentuais usam as respostas válidas de cada dimensão ou categoria, reduzindo distorções nas comparações.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Arquitetura AWS implementada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Fluxo implementado para ingestão, tratamento, catálogo, consulta e visualização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84048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1B1B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B"/>
                </a:solidFill>
              </a:rPr>
              <a:t>Fonte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Kaggle / State of Data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1810512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993392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6F32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066544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D6F32"/>
                </a:solidFill>
              </a:rPr>
              <a:t>S3 Bronze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66544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CSV bruto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ano=2023/24/25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419856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602736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90F3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675888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0F3"/>
                </a:solidFill>
              </a:rPr>
              <a:t>Glue / PySpark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75888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Jobs Silver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harmonização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5029200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212080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90F3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285232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90F3"/>
                </a:solidFill>
              </a:rPr>
              <a:t>S3 Silver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85232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Parquet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respondentes • tecnologias • IA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6638544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821424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008A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94576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008A"/>
                </a:solidFill>
              </a:rPr>
              <a:t>Glue / PySpark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94576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Gold analytics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agregações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8247888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430768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6008A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8503920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6008A"/>
                </a:solidFill>
              </a:rPr>
              <a:t>S3 Gold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perfil • remun.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tecnologias • IA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9857232" y="2231136"/>
            <a:ext cx="182880" cy="329184"/>
          </a:xfrm>
          <a:prstGeom prst="chevron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040112" y="1874520"/>
            <a:ext cx="1353312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3A8"/>
            </a:solidFill>
            <a:prstDash val="solid"/>
          </a:ln>
          <a:effectLst>
            <a:outerShdw blurRad="10160" dist="3810" dir="27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0113264" y="201168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3A8"/>
                </a:solidFill>
              </a:rPr>
              <a:t>Athena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113264" y="235000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consultas SQL</a:t>
            </a:r>
            <a:endParaRPr lang="en-US" sz="860" dirty="0"/>
          </a:p>
          <a:p>
            <a:pPr marL="0" indent="0" algn="ctr">
              <a:buNone/>
            </a:pPr>
            <a:r>
              <a:rPr lang="en-US" sz="860" dirty="0">
                <a:solidFill>
                  <a:srgbClr val="6B6B6B"/>
                </a:solidFill>
              </a:rPr>
              <a:t>+ Power BI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3547872" y="3319272"/>
            <a:ext cx="4709160" cy="713232"/>
          </a:xfrm>
          <a:prstGeom prst="roundRect">
            <a:avLst/>
          </a:prstGeom>
          <a:solidFill>
            <a:srgbClr val="ECEFF8"/>
          </a:solidFill>
          <a:ln w="12700">
            <a:solidFill>
              <a:srgbClr val="BFC7E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703320" y="35112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3A8"/>
                </a:solidFill>
              </a:rPr>
              <a:t>Glue Crawlers + Data Catalog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06240" y="2907792"/>
            <a:ext cx="0" cy="411480"/>
          </a:xfrm>
          <a:prstGeom prst="line">
            <a:avLst/>
          </a:prstGeom>
          <a:noFill/>
          <a:ln w="1524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7498080" y="2907792"/>
            <a:ext cx="0" cy="411480"/>
          </a:xfrm>
          <a:prstGeom prst="line">
            <a:avLst/>
          </a:prstGeom>
          <a:noFill/>
          <a:ln w="1524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594360" y="4434840"/>
            <a:ext cx="33832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94360" y="4434840"/>
            <a:ext cx="73152" cy="1261872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795528" y="4562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Camada Bronze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" y="4873752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Os arquivos originais foram mantidos no S3 como zona raw do Data Lake.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16552" y="4434840"/>
            <a:ext cx="33832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416552" y="4434840"/>
            <a:ext cx="73152" cy="1261872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617720" y="4562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Camadas Silver e Gold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617720" y="4873752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Silver harmoniza </a:t>
            </a:r>
            <a:r>
              <a:rPr lang="en-US" sz="1050" dirty="0" err="1">
                <a:solidFill>
                  <a:srgbClr val="6B6B6B"/>
                </a:solidFill>
              </a:rPr>
              <a:t>os</a:t>
            </a:r>
            <a:r>
              <a:rPr lang="en-US" sz="1050" dirty="0">
                <a:solidFill>
                  <a:srgbClr val="6B6B6B"/>
                </a:solidFill>
              </a:rPr>
              <a:t> dados, e a Gold reúne indicadores prontos para consulta e visualização.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238744" y="4434840"/>
            <a:ext cx="33832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8238744" y="4434840"/>
            <a:ext cx="73152" cy="1261872"/>
          </a:xfrm>
          <a:prstGeom prst="rect">
            <a:avLst/>
          </a:prstGeom>
          <a:solidFill>
            <a:srgbClr val="1F33A8"/>
          </a:solidFill>
          <a:ln w="12700">
            <a:solidFill>
              <a:srgbClr val="1F33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439912" y="45628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Consulta e visualização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8439912" y="4873752"/>
            <a:ext cx="3035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Athena consulta as tabelas catalogadas e os resultados finais alimentam o Power BI e a apresentação.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777777"/>
                </a:solidFill>
              </a:rPr>
              <a:t>State of Data </a:t>
            </a:r>
            <a:r>
              <a:rPr lang="en-US" sz="800" dirty="0" err="1">
                <a:solidFill>
                  <a:srgbClr val="777777"/>
                </a:solidFill>
              </a:rPr>
              <a:t>Brasil</a:t>
            </a:r>
            <a:r>
              <a:rPr lang="en-US" sz="800" dirty="0">
                <a:solidFill>
                  <a:srgbClr val="777777"/>
                </a:solidFill>
              </a:rPr>
              <a:t> 2023–2025 • AWS Academy</a:t>
            </a:r>
            <a:endParaRPr lang="en-US" sz="8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Perfis experientes seguem predominantes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Em 2025, a nova categoria Especialista/Staff+ muda a leitura direta da senioridade em relação aos anos anteriores</a:t>
            </a:r>
            <a:endParaRPr lang="en-US" sz="1150" dirty="0"/>
          </a:p>
        </p:txBody>
      </p:sp>
      <p:pic>
        <p:nvPicPr>
          <p:cNvPr id="4" name="Image 0" descr="/mnt/data/tech3_ppt/charts/senior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04705"/>
            <a:ext cx="7315200" cy="37972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69164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092440" y="1691640"/>
            <a:ext cx="73152" cy="123444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93608" y="18196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48,28% em 2025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93608" y="213055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Sênior (34,32%) + Especialista/Staff+ (13,96%) entre respondentes com senioridade informada.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315468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092440" y="315468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93608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2024 teve maior participação de Sênior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93608" y="359359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categoria Sênior atingiu 41,19% em 2024; a leitura de 2025 exige considerar a nova classificação Staff+.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461772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092440" y="4617720"/>
            <a:ext cx="73152" cy="1234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93608" y="47457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O que esse resultado sugere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93608" y="505663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resultado sugere equilibrar a contratação de profissionais experientes com o desenvolvimento de pessoas Júnior e Pleno dentro da organização.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Participação feminina recua no período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Participação feminina cai de 24,43% para 21,95% entre 2023 e 2025</a:t>
            </a:r>
            <a:endParaRPr lang="en-US" sz="1150" dirty="0"/>
          </a:p>
        </p:txBody>
      </p:sp>
      <p:pic>
        <p:nvPicPr>
          <p:cNvPr id="4" name="Image 0" descr="/mnt/data/tech3_ppt/charts/gen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6291"/>
            <a:ext cx="7315200" cy="38740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78308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092440" y="1783080"/>
            <a:ext cx="73152" cy="1234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93608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−2,48 p.p.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93608" y="222199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participação feminina recua de 24,43% em 2023 para 21,95% em 2025.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324612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092440" y="3246120"/>
            <a:ext cx="73152" cy="1234440"/>
          </a:xfrm>
          <a:prstGeom prst="rect">
            <a:avLst/>
          </a:prstGeom>
          <a:solidFill>
            <a:srgbClr val="1F33A8"/>
          </a:solidFill>
          <a:ln w="12700">
            <a:solidFill>
              <a:srgbClr val="1F33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93608" y="3374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Composição ainda majoritariamente masculina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93608" y="368503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amostra segue majoritariamente masculina em todos os anos, com 77,48% em 2025.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470916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092440" y="470916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93608" y="4837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O que esse resultado sugere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93608" y="514807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Vale ampliar os canais de entrada e acompanhar a evolução da participação feminina ao longo das etapas de contratação e retenção.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Concentração regional permanece elevada no Sudeste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A participação do Sudeste chega a 64,41% em 2025</a:t>
            </a:r>
            <a:endParaRPr lang="en-US" sz="1150" dirty="0"/>
          </a:p>
        </p:txBody>
      </p:sp>
      <p:pic>
        <p:nvPicPr>
          <p:cNvPr id="4" name="Image 0" descr="/mnt/data/tech3_ppt/charts/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66291"/>
            <a:ext cx="7315200" cy="387405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92440" y="178308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092440" y="1783080"/>
            <a:ext cx="73152" cy="123444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293608" y="1911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64,41% no Sudeste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93608" y="222199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concentração regional aumenta em 2025, enquanto Sul representa 16,03% e Nordeste 11,28%.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092440" y="324612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092440" y="324612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293608" y="3374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Concentração do recrutamento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93608" y="368503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Como a maior parte dos respondentes está no Sudeste, concentrar a busca nos mesmos polos pode limitar o alcance do recrutamento.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4709160"/>
            <a:ext cx="35204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092440" y="4709160"/>
            <a:ext cx="73152" cy="1234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293608" y="4837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Ampliar o alcance geográfico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93608" y="5148072"/>
            <a:ext cx="31729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Modelos de trabalho distribuídos e iniciativas de formação em outras regiões podem ampliar o acesso a profissionais fora do Sudeste.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Remoto segue dominante, mas perde participação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Presencial e híbrido com dias fixos ganham espaço em 2025</a:t>
            </a:r>
            <a:endParaRPr lang="en-US" sz="1150" dirty="0"/>
          </a:p>
        </p:txBody>
      </p:sp>
      <p:pic>
        <p:nvPicPr>
          <p:cNvPr id="4" name="Image 0" descr="/mnt/data/tech3_ppt/charts/modelo_trabal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01223"/>
            <a:ext cx="7498080" cy="344991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78308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229600" y="1783080"/>
            <a:ext cx="73152" cy="114300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430768" y="1911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Remoto: 46,31% → 39,70%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30768" y="2221992"/>
            <a:ext cx="2990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100% remoto continua líder, mas recua 6,61 p.p. entre 2023 e 2025.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0" y="315468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229600" y="3154680"/>
            <a:ext cx="73152" cy="114300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430768" y="32826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Presencial: 16,62% → 20,76%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30768" y="3593592"/>
            <a:ext cx="2990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trabalho 100% presencial volta a ganhar espaço na amostra de 2025.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229600" y="4526280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229600" y="4526280"/>
            <a:ext cx="73152" cy="114300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430768" y="4654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O que esse resultado sugere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430768" y="4965192"/>
            <a:ext cx="299008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flexibilidade no modelo de trabalho pode ajudar a ampliar o alcance do recrutamento sem eliminar momentos de colaboração presencial.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Senioridade desloca a distribuição salarial para faixas mais altas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2025 mostra diferenças claras entre Júnior, Pleno, Sênior e Especialista/Staff+</a:t>
            </a:r>
            <a:endParaRPr lang="en-US" sz="1150" dirty="0"/>
          </a:p>
        </p:txBody>
      </p:sp>
      <p:pic>
        <p:nvPicPr>
          <p:cNvPr id="4" name="Image 0" descr="/mnt/data/tech3_ppt/charts/remuneracao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70749"/>
            <a:ext cx="8183880" cy="43680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823960" y="2135034"/>
            <a:ext cx="28346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823960" y="2135034"/>
            <a:ext cx="73152" cy="1078992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025128" y="226305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Júnior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025128" y="257394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Maior concentração em R$ 4–6 mil (23,55%).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823960" y="3369474"/>
            <a:ext cx="28346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823960" y="3369474"/>
            <a:ext cx="73152" cy="1078992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025128" y="349749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Pleno / Sênior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025128" y="380838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faixa de R$ 8–12 mil concentra 32,65% dos Pleno e 32,40% dos Sênior.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23960" y="4603914"/>
            <a:ext cx="283464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823960" y="4603914"/>
            <a:ext cx="73152" cy="1078992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025128" y="473193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Especialista/Staff+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025128" y="5042826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49,0% estão entre R$ 12–20 mil; outros 34,7% aparecem acima de R$ 20 mil.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Tecnologias mais presentes entre os respondentes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Power BI, AWS, bancos relacionais e Python/SQL aparecem com destaque nas respostas</a:t>
            </a:r>
            <a:endParaRPr lang="en-US" sz="1150" dirty="0"/>
          </a:p>
        </p:txBody>
      </p:sp>
      <p:pic>
        <p:nvPicPr>
          <p:cNvPr id="4" name="Image 0" descr="/mnt/data/tech3_ppt/charts/tech_banco_d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415" y="1417320"/>
            <a:ext cx="3294529" cy="2148840"/>
          </a:xfrm>
          <a:prstGeom prst="rect">
            <a:avLst/>
          </a:prstGeom>
        </p:spPr>
      </p:pic>
      <p:pic>
        <p:nvPicPr>
          <p:cNvPr id="5" name="Image 1" descr="/mnt/data/tech3_ppt/charts/tech_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364" y="1417320"/>
            <a:ext cx="3186953" cy="2148840"/>
          </a:xfrm>
          <a:prstGeom prst="rect">
            <a:avLst/>
          </a:prstGeom>
        </p:spPr>
      </p:pic>
      <p:pic>
        <p:nvPicPr>
          <p:cNvPr id="6" name="Image 2" descr="/mnt/data/tech3_ppt/charts/tech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2965" y="3794760"/>
            <a:ext cx="3243431" cy="2148840"/>
          </a:xfrm>
          <a:prstGeom prst="rect">
            <a:avLst/>
          </a:prstGeom>
        </p:spPr>
      </p:pic>
      <p:pic>
        <p:nvPicPr>
          <p:cNvPr id="7" name="Image 3" descr="/mnt/data/tech3_ppt/charts/tech_linguage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4954" y="3794760"/>
            <a:ext cx="3283772" cy="21488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94360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B1B1B"/>
                </a:solidFill>
              </a:rPr>
              <a:t>2025: PostgreSQL 36,8% • Power BI 60,6% • AWS 49,4% • para linguagens, a pergunta mede preferência: Python 92,3% e SQL 84,4%</a:t>
            </a:r>
            <a:endParaRPr lang="en-US" sz="1130" dirty="0"/>
          </a:p>
        </p:txBody>
      </p:sp>
      <p:sp>
        <p:nvSpPr>
          <p:cNvPr id="9" name="Text 3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ganha espaço na agenda das empresas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Prioridade principal + alta prioridade sobe de 36,16% para 60,58% entre 2023 e 2025</a:t>
            </a:r>
            <a:endParaRPr lang="en-US" sz="1150" dirty="0"/>
          </a:p>
        </p:txBody>
      </p:sp>
      <p:pic>
        <p:nvPicPr>
          <p:cNvPr id="4" name="Image 0" descr="/mnt/data/tech3_ppt/charts/ia_prior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677" y="1417320"/>
            <a:ext cx="5534526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09560" y="169164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909560" y="1691640"/>
            <a:ext cx="73152" cy="1234440"/>
          </a:xfrm>
          <a:prstGeom prst="rect">
            <a:avLst/>
          </a:prstGeom>
          <a:solidFill>
            <a:srgbClr val="1F33A8"/>
          </a:solidFill>
          <a:ln w="12700">
            <a:solidFill>
              <a:srgbClr val="1F33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110728" y="18196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36,16% → 60,58%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10728" y="2130552"/>
            <a:ext cx="3310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soma de prioridade principal e alta prioridade aumenta 24,42 p.p. no período.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909560" y="315468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909560" y="315468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110728" y="32826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“Não é prioridade” recua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110728" y="3593592"/>
            <a:ext cx="3310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categoria cai de 28,79% em 2023 para 11,35% em 2025.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909560" y="4617720"/>
            <a:ext cx="36576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909560" y="4617720"/>
            <a:ext cx="73152" cy="123444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110728" y="47457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O que esse resultado sugere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110728" y="5056632"/>
            <a:ext cx="33101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Se a prioridade dada à IA cresce, investimentos em dados, segurança, governança e engenharia também precisam acompanhar esse movimento.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LLMs em 2025: pilotos ainda superam produção com impacto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A adoção avança, mas boa parte dos respondentes ainda está na fase de piloto</a:t>
            </a:r>
            <a:endParaRPr lang="en-US" sz="1150" dirty="0"/>
          </a:p>
        </p:txBody>
      </p:sp>
      <p:pic>
        <p:nvPicPr>
          <p:cNvPr id="4" name="Image 0" descr="/mnt/data/tech3_ppt/charts/llm_2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64983"/>
            <a:ext cx="6903720" cy="387667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818120" y="1691640"/>
            <a:ext cx="3749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7818120" y="1691640"/>
            <a:ext cx="73152" cy="1234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019288" y="18196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38,39% em pilotos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19288" y="2130552"/>
            <a:ext cx="34015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maior parcela ainda relata pilotos com pouco impacto de negócio.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18120" y="3154680"/>
            <a:ext cx="3749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7818120" y="3154680"/>
            <a:ext cx="73152" cy="1234440"/>
          </a:xfrm>
          <a:prstGeom prst="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019288" y="3282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26,47% em produção com impacto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19288" y="3593592"/>
            <a:ext cx="34015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Já há casos em produção com impacto, mas eles ainda representam uma parcela menor que os pilotos com pouco resultado.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818120" y="4617720"/>
            <a:ext cx="37490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7818120" y="461772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019288" y="47457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Principal desafio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19288" y="5056632"/>
            <a:ext cx="340156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O desafio é levar os casos de uso que mostram valor para produção com critérios claros de qualidade, segurança e acompanhamento de resultado.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Recomendações a partir dos achados</a:t>
            </a:r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dirty="0">
                <a:solidFill>
                  <a:srgbClr val="6B6B6B"/>
                </a:solidFill>
              </a:rPr>
              <a:t>Como os resultados podem apoiar decisões de pessoas e tecnologia</a:t>
            </a:r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6350" dist="2540" dir="27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1965960" cy="713232"/>
          </a:xfrm>
          <a:prstGeom prst="round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13816" y="18013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1. Contratação e formação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2834640" y="1746504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B1B1B"/>
                </a:solidFill>
              </a:rPr>
              <a:t>Combinar contratações para posições críticas com o desenvolvimento de profissionais Júnior e Pleno em trilhas de Dados, Analytics e IA.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85800" y="2496312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6350" dist="2540" dir="27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85800" y="2496312"/>
            <a:ext cx="1965960" cy="713232"/>
          </a:xfrm>
          <a:prstGeom prst="round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813816" y="269748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2. Diversidade e alcance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834640" y="2642616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20" dirty="0">
                <a:solidFill>
                  <a:srgbClr val="1B1B1B"/>
                </a:solidFill>
              </a:rPr>
              <a:t>Ampliar o recrutamento para diferentes perfis, gêneros e regiões e acompanhar a evolução desses indicadores ao longo do tempo.</a:t>
            </a:r>
          </a:p>
        </p:txBody>
      </p:sp>
      <p:sp>
        <p:nvSpPr>
          <p:cNvPr id="12" name="Shape 10"/>
          <p:cNvSpPr/>
          <p:nvPr/>
        </p:nvSpPr>
        <p:spPr>
          <a:xfrm>
            <a:off x="685800" y="3392424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6350" dist="2540" dir="27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85800" y="3392424"/>
            <a:ext cx="1965960" cy="713232"/>
          </a:xfrm>
          <a:prstGeom prst="round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13816" y="35935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3. Modelo de trabalho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2834640" y="3538728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20" dirty="0">
                <a:solidFill>
                  <a:srgbClr val="1B1B1B"/>
                </a:solidFill>
              </a:rPr>
              <a:t>Manter flexibilidade nas políticas de trabalho pode ajudar a ampliar o alcance do recrutamento para além dos principais polos.</a:t>
            </a:r>
          </a:p>
        </p:txBody>
      </p:sp>
      <p:sp>
        <p:nvSpPr>
          <p:cNvPr id="16" name="Shape 14"/>
          <p:cNvSpPr/>
          <p:nvPr/>
        </p:nvSpPr>
        <p:spPr>
          <a:xfrm>
            <a:off x="685800" y="4288536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6350" dist="2540" dir="27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85800" y="4288536"/>
            <a:ext cx="1965960" cy="713232"/>
          </a:xfrm>
          <a:prstGeom prst="roundRect">
            <a:avLst/>
          </a:prstGeom>
          <a:solidFill>
            <a:srgbClr val="1F33A8"/>
          </a:solidFill>
          <a:ln w="12700">
            <a:solidFill>
              <a:srgbClr val="1F33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13816" y="4489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4. Capacitação técnica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2834640" y="4434840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20" dirty="0">
                <a:solidFill>
                  <a:srgbClr val="1B1B1B"/>
                </a:solidFill>
              </a:rPr>
              <a:t>Usar as tecnologias mais presentes na pesquisa como referência para trilhas de capacitação, sempre considerando as necessidades internas da empresa.</a:t>
            </a:r>
          </a:p>
        </p:txBody>
      </p:sp>
      <p:sp>
        <p:nvSpPr>
          <p:cNvPr id="20" name="Shape 18"/>
          <p:cNvSpPr/>
          <p:nvPr/>
        </p:nvSpPr>
        <p:spPr>
          <a:xfrm>
            <a:off x="685800" y="5184648"/>
            <a:ext cx="1083564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  <a:effectLst>
            <a:outerShdw blurRad="6350" dist="2540" dir="27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685800" y="5184648"/>
            <a:ext cx="1965960" cy="713232"/>
          </a:xfrm>
          <a:prstGeom prst="roundRect">
            <a:avLst/>
          </a:prstGeom>
          <a:solidFill>
            <a:srgbClr val="0F9D58"/>
          </a:solidFill>
          <a:ln w="12700">
            <a:solidFill>
              <a:srgbClr val="0F9D5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13816" y="5385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5. IA com foco em resultado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834640" y="5330952"/>
            <a:ext cx="8394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120" dirty="0">
                <a:solidFill>
                  <a:srgbClr val="1B1B1B"/>
                </a:solidFill>
              </a:rPr>
              <a:t>Priorizar casos de uso com objetivos claros e acompanhar os resultados antes de ampliar os investimentos em IA.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" y="6172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b="1" dirty="0">
                <a:solidFill>
                  <a:srgbClr val="1B1B1B"/>
                </a:solidFill>
              </a:rPr>
              <a:t>As recomendações devem ser combinadas com o contexto e as prioridades de cada organização.</a:t>
            </a:r>
          </a:p>
        </p:txBody>
      </p:sp>
      <p:sp>
        <p:nvSpPr>
          <p:cNvPr id="25" name="Text 23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49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Conclusão e notas metodológicas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116128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</a:rPr>
              <a:t>Síntese dos resultados e principais cuidados de leitura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73152" cy="1234440"/>
          </a:xfrm>
          <a:prstGeom prst="rect">
            <a:avLst/>
          </a:prstGeom>
          <a:solidFill>
            <a:srgbClr val="76008A"/>
          </a:solidFill>
          <a:ln w="12700">
            <a:solidFill>
              <a:srgbClr val="76008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5528" y="1728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Talentos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" y="203911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pt-BR" sz="1050" dirty="0">
                <a:solidFill>
                  <a:srgbClr val="6B6B6B"/>
                </a:solidFill>
              </a:rPr>
              <a:t>Mercado pesquisado combina forte presença de perfis experientes com concentração regional e desafio de diversidade.</a:t>
            </a:r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370832" y="1600200"/>
            <a:ext cx="73152" cy="1234440"/>
          </a:xfrm>
          <a:prstGeom prst="rect">
            <a:avLst/>
          </a:prstGeom>
          <a:solidFill>
            <a:srgbClr val="1E90F3"/>
          </a:solidFill>
          <a:ln w="12700">
            <a:solidFill>
              <a:srgbClr val="1E9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572000" y="1728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Tecnologia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203911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Algumas tecnologias aparecem de forma recorrente nas respostas e podem servir como referência para capacitação e decisões de plataforma.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47304" y="1600200"/>
            <a:ext cx="3429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D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8147304" y="1600200"/>
            <a:ext cx="73152" cy="1234440"/>
          </a:xfrm>
          <a:prstGeom prst="rect">
            <a:avLst/>
          </a:prstGeom>
          <a:solidFill>
            <a:srgbClr val="ED6F32"/>
          </a:solidFill>
          <a:ln w="12700">
            <a:solidFill>
              <a:srgbClr val="ED6F3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348472" y="17282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1B"/>
                </a:solidFill>
              </a:rPr>
              <a:t>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48472" y="2039112"/>
            <a:ext cx="308152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6B6B"/>
                </a:solidFill>
              </a:rPr>
              <a:t>A prioridade dada à IA cresce no período, mas a pesquisa de 2025 mostra que transformar pilotos em resultado ainda é um desafio.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B1B"/>
                </a:solidFill>
              </a:rPr>
              <a:t>Limitações e cautelas de interpretação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639312"/>
            <a:ext cx="562356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B1B1B"/>
                </a:solidFill>
              </a:rPr>
              <a:t>As amostras têm </a:t>
            </a:r>
            <a:r>
              <a:rPr lang="en-US" sz="1120" dirty="0" err="1">
                <a:solidFill>
                  <a:srgbClr val="1B1B1B"/>
                </a:solidFill>
              </a:rPr>
              <a:t>tamanhos</a:t>
            </a:r>
            <a:r>
              <a:rPr lang="en-US" sz="1120" dirty="0">
                <a:solidFill>
                  <a:srgbClr val="1B1B1B"/>
                </a:solidFill>
              </a:rPr>
              <a:t> </a:t>
            </a:r>
            <a:r>
              <a:rPr lang="en-US" sz="1120" dirty="0" err="1">
                <a:solidFill>
                  <a:srgbClr val="1B1B1B"/>
                </a:solidFill>
              </a:rPr>
              <a:t>diferentes</a:t>
            </a:r>
            <a:r>
              <a:rPr lang="en-US" sz="1120" dirty="0">
                <a:solidFill>
                  <a:srgbClr val="1B1B1B"/>
                </a:solidFill>
              </a:rPr>
              <a:t>, </a:t>
            </a:r>
            <a:r>
              <a:rPr lang="en-US" sz="1120" dirty="0" err="1">
                <a:solidFill>
                  <a:srgbClr val="1B1B1B"/>
                </a:solidFill>
              </a:rPr>
              <a:t>por</a:t>
            </a:r>
            <a:r>
              <a:rPr lang="en-US" sz="1120" dirty="0">
                <a:solidFill>
                  <a:srgbClr val="1B1B1B"/>
                </a:solidFill>
              </a:rPr>
              <a:t> isso, as comparações priorizam percentuais.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B1B1B"/>
                </a:solidFill>
              </a:rPr>
              <a:t>Em 2025 aparece Especialista/Staff+, o que muda a comparação direta com Sênior.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B1B1B"/>
                </a:solidFill>
              </a:rPr>
              <a:t>Linguagens em 2025 </a:t>
            </a:r>
            <a:r>
              <a:rPr lang="en-US" sz="1120" dirty="0" err="1">
                <a:solidFill>
                  <a:srgbClr val="1B1B1B"/>
                </a:solidFill>
              </a:rPr>
              <a:t>medem</a:t>
            </a:r>
            <a:r>
              <a:rPr lang="en-US" sz="1120" dirty="0">
                <a:solidFill>
                  <a:srgbClr val="1B1B1B"/>
                </a:solidFill>
              </a:rPr>
              <a:t> </a:t>
            </a:r>
            <a:r>
              <a:rPr lang="en-US" sz="1120" dirty="0" err="1">
                <a:solidFill>
                  <a:srgbClr val="1B1B1B"/>
                </a:solidFill>
              </a:rPr>
              <a:t>preferência</a:t>
            </a:r>
            <a:r>
              <a:rPr lang="en-US" sz="1120" dirty="0">
                <a:solidFill>
                  <a:srgbClr val="1B1B1B"/>
                </a:solidFill>
              </a:rPr>
              <a:t>, e Cloud 2023 tem uma formulação diferente.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B1B1B"/>
                </a:solidFill>
              </a:rPr>
              <a:t>Os resultados descrevem os respondentes da pesquisa e não uma estimativa censitária do mercado.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720840" y="3364992"/>
            <a:ext cx="4800600" cy="20574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059168" y="373075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dirty="0">
                <a:solidFill>
                  <a:srgbClr val="1E90F3"/>
                </a:solidFill>
              </a:rPr>
              <a:t>O que os dados indicam</a:t>
            </a:r>
          </a:p>
        </p:txBody>
      </p:sp>
      <p:sp>
        <p:nvSpPr>
          <p:cNvPr id="20" name="Text 18"/>
          <p:cNvSpPr/>
          <p:nvPr/>
        </p:nvSpPr>
        <p:spPr>
          <a:xfrm>
            <a:off x="7059168" y="418795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pt-BR" sz="1500" b="1" dirty="0">
                <a:solidFill>
                  <a:srgbClr val="FFFFFF"/>
                </a:solidFill>
              </a:rPr>
              <a:t>Os resultados ajudam a orientar decisões sobre contratação, capacitação e tecnologia, com base nas mudanças observadas no mercado de Dados.</a:t>
            </a:r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E4451-CF74-C048-82F8-C84A4BD6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20">
            <a:extLst>
              <a:ext uri="{FF2B5EF4-FFF2-40B4-BE49-F238E27FC236}">
                <a16:creationId xmlns:a16="http://schemas.microsoft.com/office/drawing/2014/main" id="{EF7D353D-6A84-0129-A91C-6C819CD36E07}"/>
              </a:ext>
            </a:extLst>
          </p:cNvPr>
          <p:cNvSpPr/>
          <p:nvPr/>
        </p:nvSpPr>
        <p:spPr>
          <a:xfrm>
            <a:off x="411480" y="65653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</a:rPr>
              <a:t>State of Data Brasil 2023–2025 • AWS Academy</a:t>
            </a:r>
            <a:endParaRPr lang="en-US" sz="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E65C49D-FA97-9496-133F-73A41CC632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1548D81E-E8EA-ED3F-CB42-65BE759B77EE}"/>
              </a:ext>
            </a:extLst>
          </p:cNvPr>
          <p:cNvSpPr/>
          <p:nvPr/>
        </p:nvSpPr>
        <p:spPr>
          <a:xfrm>
            <a:off x="3803182" y="2888541"/>
            <a:ext cx="4800600" cy="2057400"/>
          </a:xfrm>
          <a:prstGeom prst="round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50FFEE4E-0B4E-E663-3379-AD5A31531CD8}"/>
              </a:ext>
            </a:extLst>
          </p:cNvPr>
          <p:cNvSpPr/>
          <p:nvPr/>
        </p:nvSpPr>
        <p:spPr>
          <a:xfrm>
            <a:off x="3803181" y="3272589"/>
            <a:ext cx="48005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dirty="0">
                <a:solidFill>
                  <a:schemeClr val="bg1"/>
                </a:solidFill>
              </a:rPr>
              <a:t>Link do repositório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8" name="Text 18">
            <a:extLst>
              <a:ext uri="{FF2B5EF4-FFF2-40B4-BE49-F238E27FC236}">
                <a16:creationId xmlns:a16="http://schemas.microsoft.com/office/drawing/2014/main" id="{BAAE519C-C548-785D-67AF-CC14BCDF3C07}"/>
              </a:ext>
            </a:extLst>
          </p:cNvPr>
          <p:cNvSpPr/>
          <p:nvPr/>
        </p:nvSpPr>
        <p:spPr>
          <a:xfrm>
            <a:off x="3803181" y="3726180"/>
            <a:ext cx="480059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pt-BR" sz="1500" b="1" dirty="0">
                <a:solidFill>
                  <a:srgbClr val="FFFFFF"/>
                </a:solidFill>
                <a:hlinkClick r:id="rId3"/>
              </a:rPr>
              <a:t>https://github.com/eltonfs13/tech-challenge-fase3-state-of-data</a:t>
            </a:r>
            <a:endParaRPr lang="en-US" sz="1500" dirty="0"/>
          </a:p>
        </p:txBody>
      </p:sp>
      <p:sp>
        <p:nvSpPr>
          <p:cNvPr id="30" name="Text 0">
            <a:extLst>
              <a:ext uri="{FF2B5EF4-FFF2-40B4-BE49-F238E27FC236}">
                <a16:creationId xmlns:a16="http://schemas.microsoft.com/office/drawing/2014/main" id="{9BB63F60-F781-680F-A932-17FF09B41F3F}"/>
              </a:ext>
            </a:extLst>
          </p:cNvPr>
          <p:cNvSpPr/>
          <p:nvPr/>
        </p:nvSpPr>
        <p:spPr>
          <a:xfrm>
            <a:off x="0" y="846061"/>
            <a:ext cx="1219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Materiais</a:t>
            </a:r>
            <a:r>
              <a:rPr lang="en-US" sz="4400" b="1" dirty="0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</a:t>
            </a:r>
            <a:r>
              <a:rPr lang="en-US" sz="4400" b="1" dirty="0" err="1">
                <a:solidFill>
                  <a:srgbClr val="1B1B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projeto</a:t>
            </a:r>
            <a:endParaRPr lang="en-US" sz="44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4F998F89-E410-1220-B909-E91C2C8C439E}"/>
              </a:ext>
            </a:extLst>
          </p:cNvPr>
          <p:cNvSpPr/>
          <p:nvPr/>
        </p:nvSpPr>
        <p:spPr>
          <a:xfrm>
            <a:off x="0" y="1931309"/>
            <a:ext cx="1219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6B6B"/>
                </a:solidFill>
              </a:rPr>
              <a:t>Código, notebook, </a:t>
            </a:r>
            <a:r>
              <a:rPr lang="en-US" dirty="0" err="1">
                <a:solidFill>
                  <a:srgbClr val="6B6B6B"/>
                </a:solidFill>
              </a:rPr>
              <a:t>consultas</a:t>
            </a:r>
            <a:r>
              <a:rPr lang="en-US" dirty="0">
                <a:solidFill>
                  <a:srgbClr val="6B6B6B"/>
                </a:solidFill>
              </a:rPr>
              <a:t> SQÇ, </a:t>
            </a:r>
            <a:r>
              <a:rPr lang="en-US" dirty="0" err="1">
                <a:solidFill>
                  <a:srgbClr val="6B6B6B"/>
                </a:solidFill>
              </a:rPr>
              <a:t>arquitetura</a:t>
            </a:r>
            <a:r>
              <a:rPr lang="en-US" dirty="0">
                <a:solidFill>
                  <a:srgbClr val="6B6B6B"/>
                </a:solidFill>
              </a:rPr>
              <a:t> e </a:t>
            </a:r>
            <a:r>
              <a:rPr lang="en-US" dirty="0" err="1">
                <a:solidFill>
                  <a:srgbClr val="6B6B6B"/>
                </a:solidFill>
              </a:rPr>
              <a:t>apresentação</a:t>
            </a:r>
            <a:r>
              <a:rPr lang="en-US" dirty="0">
                <a:solidFill>
                  <a:srgbClr val="6B6B6B"/>
                </a:solidFill>
              </a:rPr>
              <a:t> </a:t>
            </a:r>
            <a:r>
              <a:rPr lang="en-US" dirty="0" err="1">
                <a:solidFill>
                  <a:srgbClr val="6B6B6B"/>
                </a:solidFill>
              </a:rPr>
              <a:t>estão</a:t>
            </a:r>
            <a:r>
              <a:rPr lang="en-US" dirty="0">
                <a:solidFill>
                  <a:srgbClr val="6B6B6B"/>
                </a:solidFill>
              </a:rPr>
              <a:t> </a:t>
            </a:r>
            <a:r>
              <a:rPr lang="en-US" dirty="0" err="1">
                <a:solidFill>
                  <a:srgbClr val="6B6B6B"/>
                </a:solidFill>
              </a:rPr>
              <a:t>disponíveis</a:t>
            </a:r>
            <a:r>
              <a:rPr lang="en-US" dirty="0">
                <a:solidFill>
                  <a:srgbClr val="6B6B6B"/>
                </a:solidFill>
              </a:rPr>
              <a:t> no 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593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2350</Words>
  <Application>Microsoft Office PowerPoint</Application>
  <PresentationFormat>Widescreen</PresentationFormat>
  <Paragraphs>225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 Pós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Fase 3 — State of Data Brasil</dc:title>
  <dc:subject>Engenharia de Dados &amp; Analytics na AWS — State of Data Brasil 2023–2025</dc:subject>
  <dc:creator>Elton Ferreira</dc:creator>
  <cp:lastModifiedBy>Training Excel</cp:lastModifiedBy>
  <cp:revision>5</cp:revision>
  <dcterms:created xsi:type="dcterms:W3CDTF">2026-09-09T01:27:23Z</dcterms:created>
  <dcterms:modified xsi:type="dcterms:W3CDTF">2026-09-11T13:58:23Z</dcterms:modified>
</cp:coreProperties>
</file>